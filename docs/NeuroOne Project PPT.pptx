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G Jory Bold" charset="1" panose="02000000000000000000"/>
      <p:regular r:id="rId21"/>
    </p:embeddedFont>
    <p:embeddedFont>
      <p:font typeface="DG Jory" charset="1" panose="02000000000000000000"/>
      <p:regular r:id="rId22"/>
    </p:embeddedFont>
    <p:embeddedFont>
      <p:font typeface="League Spartan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59261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680067" y="-251105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5901541" y="1019175"/>
            <a:ext cx="64849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6"/>
              </a:lnSpc>
              <a:spcBef>
                <a:spcPct val="0"/>
              </a:spcBef>
            </a:pPr>
            <a:r>
              <a:rPr lang="en-US" b="true" sz="3105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Team Id : 26_CS_3G_10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65895" y="8775634"/>
            <a:ext cx="6956211" cy="48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Pranveer Singh Institute of Technology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14217" y="4162734"/>
            <a:ext cx="6651003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91"/>
              </a:lnSpc>
            </a:pPr>
            <a:r>
              <a:rPr lang="en-US" sz="13242">
                <a:solidFill>
                  <a:srgbClr val="56C3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NEURO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1714" y="4162734"/>
            <a:ext cx="4094292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91"/>
              </a:lnSpc>
            </a:pPr>
            <a:r>
              <a:rPr lang="en-US" sz="13242">
                <a:solidFill>
                  <a:srgbClr val="56C3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1714" y="4059267"/>
            <a:ext cx="4094292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91"/>
              </a:lnSpc>
            </a:pPr>
            <a:r>
              <a:rPr lang="en-US" sz="132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43841" y="4059267"/>
            <a:ext cx="6651003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91"/>
              </a:lnSpc>
            </a:pPr>
            <a:r>
              <a:rPr lang="en-US" sz="132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NEURO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5895" y="7746934"/>
            <a:ext cx="695621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Project Supervisor: </a:t>
            </a:r>
            <a:r>
              <a:rPr lang="en-US" b="true" sz="3105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Dr. Taresh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5341766" y="835858"/>
            <a:ext cx="7604468" cy="1773322"/>
            <a:chOff x="0" y="0"/>
            <a:chExt cx="34854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85499" cy="812800"/>
            </a:xfrm>
            <a:custGeom>
              <a:avLst/>
              <a:gdLst/>
              <a:ahLst/>
              <a:cxnLst/>
              <a:rect r="r" b="b" t="t" l="l"/>
              <a:pathLst>
                <a:path h="812800" w="3485499">
                  <a:moveTo>
                    <a:pt x="348549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485499" y="624840"/>
                  </a:lnTo>
                  <a:lnTo>
                    <a:pt x="348549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485499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1815" y="1028700"/>
            <a:ext cx="7607456" cy="1773322"/>
            <a:chOff x="0" y="0"/>
            <a:chExt cx="348686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6868" cy="812800"/>
            </a:xfrm>
            <a:custGeom>
              <a:avLst/>
              <a:gdLst/>
              <a:ahLst/>
              <a:cxnLst/>
              <a:rect r="r" b="b" t="t" l="l"/>
              <a:pathLst>
                <a:path h="812800" w="3486868">
                  <a:moveTo>
                    <a:pt x="3486868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486868" y="624840"/>
                  </a:lnTo>
                  <a:lnTo>
                    <a:pt x="3486868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486868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58622" y="2882043"/>
            <a:ext cx="8053119" cy="698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Neurodegenerative diseases such as Alzheimer's and Parkinson's affect millions of people worldwide. Unfortunately, these conditions are often diagnosed only after significant and irreversible brain damage has already occurred.</a:t>
            </a:r>
          </a:p>
          <a:p>
            <a:pPr algn="l">
              <a:lnSpc>
                <a:spcPts val="3961"/>
              </a:lnSpc>
            </a:pPr>
          </a:p>
          <a:p>
            <a:pPr algn="l">
              <a:lnSpc>
                <a:spcPts val="3961"/>
              </a:lnSpc>
            </a:pPr>
            <a:r>
              <a:rPr lang="en-US" sz="28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Key Challenges :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Early symptoms are subtle and difficult to detect.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MRI interpretation requires experienced neurologists.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Manual diagnosis is time-consuming.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Many hospitals lack specialist expertise.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Delayed diagnosis limits treatment effectiveness.</a:t>
            </a:r>
          </a:p>
          <a:p>
            <a:pPr algn="l">
              <a:lnSpc>
                <a:spcPts val="4381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2500716" y="2948718"/>
            <a:ext cx="4198165" cy="6051096"/>
            <a:chOff x="0" y="0"/>
            <a:chExt cx="547578" cy="789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7578" cy="789260"/>
            </a:xfrm>
            <a:custGeom>
              <a:avLst/>
              <a:gdLst/>
              <a:ahLst/>
              <a:cxnLst/>
              <a:rect r="r" b="b" t="t" l="l"/>
              <a:pathLst>
                <a:path h="789260" w="547578">
                  <a:moveTo>
                    <a:pt x="0" y="0"/>
                  </a:moveTo>
                  <a:lnTo>
                    <a:pt x="547578" y="0"/>
                  </a:lnTo>
                  <a:lnTo>
                    <a:pt x="547578" y="789260"/>
                  </a:lnTo>
                  <a:lnTo>
                    <a:pt x="0" y="789260"/>
                  </a:lnTo>
                  <a:close/>
                </a:path>
              </a:pathLst>
            </a:custGeom>
            <a:blipFill>
              <a:blip r:embed="rId4"/>
              <a:stretch>
                <a:fillRect l="-3985" t="0" r="-3985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true" rot="0">
            <a:off x="-3530978" y="-2407245"/>
            <a:ext cx="6563275" cy="5942747"/>
          </a:xfrm>
          <a:custGeom>
            <a:avLst/>
            <a:gdLst/>
            <a:ahLst/>
            <a:cxnLst/>
            <a:rect r="r" b="b" t="t" l="l"/>
            <a:pathLst>
              <a:path h="5942747" w="6563275">
                <a:moveTo>
                  <a:pt x="6563276" y="5942747"/>
                </a:moveTo>
                <a:lnTo>
                  <a:pt x="0" y="5942747"/>
                </a:lnTo>
                <a:lnTo>
                  <a:pt x="0" y="0"/>
                </a:lnTo>
                <a:lnTo>
                  <a:pt x="6563276" y="0"/>
                </a:lnTo>
                <a:lnTo>
                  <a:pt x="6563276" y="59427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5662367" y="1321765"/>
            <a:ext cx="7366352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16762" y="516354"/>
            <a:ext cx="7768782" cy="1773322"/>
            <a:chOff x="0" y="0"/>
            <a:chExt cx="356081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0812" cy="812800"/>
            </a:xfrm>
            <a:custGeom>
              <a:avLst/>
              <a:gdLst/>
              <a:ahLst/>
              <a:cxnLst/>
              <a:rect r="r" b="b" t="t" l="l"/>
              <a:pathLst>
                <a:path h="812800" w="3560812">
                  <a:moveTo>
                    <a:pt x="356081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560812" y="624840"/>
                  </a:lnTo>
                  <a:lnTo>
                    <a:pt x="3560812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56081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9792" y="767469"/>
            <a:ext cx="7859019" cy="1773322"/>
            <a:chOff x="0" y="0"/>
            <a:chExt cx="360217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172" cy="812800"/>
            </a:xfrm>
            <a:custGeom>
              <a:avLst/>
              <a:gdLst/>
              <a:ahLst/>
              <a:cxnLst/>
              <a:rect r="r" b="b" t="t" l="l"/>
              <a:pathLst>
                <a:path h="812800" w="3602172">
                  <a:moveTo>
                    <a:pt x="360217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602172" y="624840"/>
                  </a:lnTo>
                  <a:lnTo>
                    <a:pt x="360217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60217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678772"/>
            <a:ext cx="8806696" cy="851368"/>
            <a:chOff x="0" y="0"/>
            <a:chExt cx="2319459" cy="2242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9459" cy="224229"/>
            </a:xfrm>
            <a:custGeom>
              <a:avLst/>
              <a:gdLst/>
              <a:ahLst/>
              <a:cxnLst/>
              <a:rect r="r" b="b" t="t" l="l"/>
              <a:pathLst>
                <a:path h="224229" w="2319459">
                  <a:moveTo>
                    <a:pt x="0" y="0"/>
                  </a:moveTo>
                  <a:lnTo>
                    <a:pt x="2319459" y="0"/>
                  </a:lnTo>
                  <a:lnTo>
                    <a:pt x="2319459" y="224229"/>
                  </a:lnTo>
                  <a:lnTo>
                    <a:pt x="0" y="224229"/>
                  </a:lnTo>
                  <a:close/>
                </a:path>
              </a:pathLst>
            </a:custGeom>
            <a:solidFill>
              <a:srgbClr val="9BDAE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19459" cy="27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895751"/>
            <a:ext cx="5222749" cy="851368"/>
            <a:chOff x="0" y="0"/>
            <a:chExt cx="1375539" cy="2242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5539" cy="224229"/>
            </a:xfrm>
            <a:custGeom>
              <a:avLst/>
              <a:gdLst/>
              <a:ahLst/>
              <a:cxnLst/>
              <a:rect r="r" b="b" t="t" l="l"/>
              <a:pathLst>
                <a:path h="224229" w="1375539">
                  <a:moveTo>
                    <a:pt x="0" y="0"/>
                  </a:moveTo>
                  <a:lnTo>
                    <a:pt x="1375539" y="0"/>
                  </a:lnTo>
                  <a:lnTo>
                    <a:pt x="1375539" y="224229"/>
                  </a:lnTo>
                  <a:lnTo>
                    <a:pt x="0" y="224229"/>
                  </a:lnTo>
                  <a:close/>
                </a:path>
              </a:pathLst>
            </a:custGeom>
            <a:solidFill>
              <a:srgbClr val="9BDAE9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75539" cy="27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708677" y="2678772"/>
            <a:ext cx="4704355" cy="6272473"/>
          </a:xfrm>
          <a:custGeom>
            <a:avLst/>
            <a:gdLst/>
            <a:ahLst/>
            <a:cxnLst/>
            <a:rect r="r" b="b" t="t" l="l"/>
            <a:pathLst>
              <a:path h="6272473" w="4704355">
                <a:moveTo>
                  <a:pt x="0" y="0"/>
                </a:moveTo>
                <a:lnTo>
                  <a:pt x="4704355" y="0"/>
                </a:lnTo>
                <a:lnTo>
                  <a:pt x="4704355" y="6272473"/>
                </a:lnTo>
                <a:lnTo>
                  <a:pt x="0" y="627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643217"/>
            <a:ext cx="6614924" cy="238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Delay</a:t>
            </a: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ed diagnosis can result in: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Faster disease progression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Reduced quality of life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Higher healthcare costs</a:t>
            </a:r>
          </a:p>
          <a:p>
            <a:pPr algn="l">
              <a:lnSpc>
                <a:spcPts val="315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775695"/>
            <a:ext cx="6065216" cy="252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Dependence on specialists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Long waiting times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Human variability in interpretation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Limited accessibility in rural areas</a:t>
            </a:r>
          </a:p>
          <a:p>
            <a:pPr algn="l">
              <a:lnSpc>
                <a:spcPts val="438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99792" y="2806958"/>
            <a:ext cx="87356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EARLY DETECTION IS IMPORTANT 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9792" y="6069325"/>
            <a:ext cx="502555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 LIMITATIONS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6405" y="905516"/>
            <a:ext cx="7802406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DOES IT MATTER?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94159" y="4158107"/>
            <a:ext cx="5290661" cy="98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Increased burden on caregivers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Limited treatment options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47602" y="4089514"/>
            <a:ext cx="5303996" cy="5736031"/>
            <a:chOff x="0" y="0"/>
            <a:chExt cx="1396937" cy="15107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937" cy="1510724"/>
            </a:xfrm>
            <a:custGeom>
              <a:avLst/>
              <a:gdLst/>
              <a:ahLst/>
              <a:cxnLst/>
              <a:rect r="r" b="b" t="t" l="l"/>
              <a:pathLst>
                <a:path h="1510724" w="1396937">
                  <a:moveTo>
                    <a:pt x="0" y="0"/>
                  </a:moveTo>
                  <a:lnTo>
                    <a:pt x="1396937" y="0"/>
                  </a:lnTo>
                  <a:lnTo>
                    <a:pt x="1396937" y="1510724"/>
                  </a:lnTo>
                  <a:lnTo>
                    <a:pt x="0" y="1510724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96937" cy="1558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5646697" y="502111"/>
            <a:ext cx="7493250" cy="1773322"/>
            <a:chOff x="0" y="0"/>
            <a:chExt cx="3434522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34522" cy="812800"/>
            </a:xfrm>
            <a:custGeom>
              <a:avLst/>
              <a:gdLst/>
              <a:ahLst/>
              <a:cxnLst/>
              <a:rect r="r" b="b" t="t" l="l"/>
              <a:pathLst>
                <a:path h="812800" w="3434522">
                  <a:moveTo>
                    <a:pt x="343452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434522" y="624840"/>
                  </a:lnTo>
                  <a:lnTo>
                    <a:pt x="3434522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43452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55257" y="671356"/>
            <a:ext cx="7534436" cy="1773322"/>
            <a:chOff x="0" y="0"/>
            <a:chExt cx="34534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53400" cy="812800"/>
            </a:xfrm>
            <a:custGeom>
              <a:avLst/>
              <a:gdLst/>
              <a:ahLst/>
              <a:cxnLst/>
              <a:rect r="r" b="b" t="t" l="l"/>
              <a:pathLst>
                <a:path h="812800" w="3453400">
                  <a:moveTo>
                    <a:pt x="3453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453400" y="624840"/>
                  </a:lnTo>
                  <a:lnTo>
                    <a:pt x="3453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453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965591" y="4089514"/>
            <a:ext cx="4748586" cy="5699828"/>
          </a:xfrm>
          <a:custGeom>
            <a:avLst/>
            <a:gdLst/>
            <a:ahLst/>
            <a:cxnLst/>
            <a:rect r="r" b="b" t="t" l="l"/>
            <a:pathLst>
              <a:path h="5699828" w="4748586">
                <a:moveTo>
                  <a:pt x="0" y="0"/>
                </a:moveTo>
                <a:lnTo>
                  <a:pt x="4748586" y="0"/>
                </a:lnTo>
                <a:lnTo>
                  <a:pt x="4748586" y="5699828"/>
                </a:lnTo>
                <a:lnTo>
                  <a:pt x="0" y="569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75" r="0" b="-670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18938" y="4437092"/>
            <a:ext cx="3884234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IT DOES?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65591" y="2494507"/>
            <a:ext cx="10786008" cy="148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NeuroOne is an AI-powered clinical decision support system designed to assist doctors in the early detection of neurodegenerative diseases using MRI scans.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2476" y="5076825"/>
            <a:ext cx="5116932" cy="494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Accepts brain MRI scans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Uses AI to analyze imaging patterns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Predicts the likelihood of disease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Highlights important regions using Explainable AI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Stores reports securely for future reference</a:t>
            </a:r>
          </a:p>
          <a:p>
            <a:pPr algn="l">
              <a:lnSpc>
                <a:spcPts val="396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755257" y="924888"/>
            <a:ext cx="7384690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15266" y="813540"/>
            <a:ext cx="9657468" cy="1773322"/>
            <a:chOff x="0" y="0"/>
            <a:chExt cx="442648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26489" cy="812800"/>
            </a:xfrm>
            <a:custGeom>
              <a:avLst/>
              <a:gdLst/>
              <a:ahLst/>
              <a:cxnLst/>
              <a:rect r="r" b="b" t="t" l="l"/>
              <a:pathLst>
                <a:path h="812800" w="4426489">
                  <a:moveTo>
                    <a:pt x="442648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426489" y="624840"/>
                  </a:lnTo>
                  <a:lnTo>
                    <a:pt x="442648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426489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24824" y="1028700"/>
            <a:ext cx="9618382" cy="1773322"/>
            <a:chOff x="0" y="0"/>
            <a:chExt cx="440857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08574" cy="812800"/>
            </a:xfrm>
            <a:custGeom>
              <a:avLst/>
              <a:gdLst/>
              <a:ahLst/>
              <a:cxnLst/>
              <a:rect r="r" b="b" t="t" l="l"/>
              <a:pathLst>
                <a:path h="812800" w="4408574">
                  <a:moveTo>
                    <a:pt x="4408574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408574" y="624840"/>
                  </a:lnTo>
                  <a:lnTo>
                    <a:pt x="4408574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08574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56466" y="2802022"/>
            <a:ext cx="12775068" cy="6130688"/>
          </a:xfrm>
          <a:custGeom>
            <a:avLst/>
            <a:gdLst/>
            <a:ahLst/>
            <a:cxnLst/>
            <a:rect r="r" b="b" t="t" l="l"/>
            <a:pathLst>
              <a:path h="6130688" w="12775068">
                <a:moveTo>
                  <a:pt x="0" y="0"/>
                </a:moveTo>
                <a:lnTo>
                  <a:pt x="12775068" y="0"/>
                </a:lnTo>
                <a:lnTo>
                  <a:pt x="12775068" y="6130688"/>
                </a:lnTo>
                <a:lnTo>
                  <a:pt x="0" y="6130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661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143206" y="6498593"/>
            <a:ext cx="1227633" cy="2177165"/>
          </a:xfrm>
          <a:custGeom>
            <a:avLst/>
            <a:gdLst/>
            <a:ahLst/>
            <a:cxnLst/>
            <a:rect r="r" b="b" t="t" l="l"/>
            <a:pathLst>
              <a:path h="2177165" w="1227633">
                <a:moveTo>
                  <a:pt x="0" y="0"/>
                </a:moveTo>
                <a:lnTo>
                  <a:pt x="1227633" y="0"/>
                </a:lnTo>
                <a:lnTo>
                  <a:pt x="1227633" y="2177165"/>
                </a:lnTo>
                <a:lnTo>
                  <a:pt x="0" y="2177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95843" t="-519937" r="-139593" b="-9835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670644" y="1325894"/>
            <a:ext cx="9095800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METHODOLOGY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9420" y="1915361"/>
            <a:ext cx="16072734" cy="7723452"/>
          </a:xfrm>
          <a:custGeom>
            <a:avLst/>
            <a:gdLst/>
            <a:ahLst/>
            <a:cxnLst/>
            <a:rect r="r" b="b" t="t" l="l"/>
            <a:pathLst>
              <a:path h="7723452" w="16072734">
                <a:moveTo>
                  <a:pt x="0" y="0"/>
                </a:moveTo>
                <a:lnTo>
                  <a:pt x="16072733" y="0"/>
                </a:lnTo>
                <a:lnTo>
                  <a:pt x="16072733" y="7723452"/>
                </a:lnTo>
                <a:lnTo>
                  <a:pt x="0" y="7723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10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6418725" y="758821"/>
            <a:ext cx="5994124" cy="1773322"/>
            <a:chOff x="0" y="0"/>
            <a:chExt cx="27474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04513" y="924888"/>
            <a:ext cx="5994124" cy="1773322"/>
            <a:chOff x="0" y="0"/>
            <a:chExt cx="27474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85101" y="1166747"/>
            <a:ext cx="60277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7707" y="630710"/>
            <a:ext cx="4178756" cy="1773322"/>
            <a:chOff x="0" y="0"/>
            <a:chExt cx="191532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328" cy="812800"/>
            </a:xfrm>
            <a:custGeom>
              <a:avLst/>
              <a:gdLst/>
              <a:ahLst/>
              <a:cxnLst/>
              <a:rect r="r" b="b" t="t" l="l"/>
              <a:pathLst>
                <a:path h="812800" w="1915328">
                  <a:moveTo>
                    <a:pt x="1915328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1915328" y="624840"/>
                  </a:lnTo>
                  <a:lnTo>
                    <a:pt x="1915328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15328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55678" y="876944"/>
            <a:ext cx="4215430" cy="1773322"/>
            <a:chOff x="0" y="0"/>
            <a:chExt cx="193213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2137" cy="812800"/>
            </a:xfrm>
            <a:custGeom>
              <a:avLst/>
              <a:gdLst/>
              <a:ahLst/>
              <a:cxnLst/>
              <a:rect r="r" b="b" t="t" l="l"/>
              <a:pathLst>
                <a:path h="812800" w="1932137">
                  <a:moveTo>
                    <a:pt x="1932137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1932137" y="624840"/>
                  </a:lnTo>
                  <a:lnTo>
                    <a:pt x="1932137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32137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1878" y="2942129"/>
            <a:ext cx="12660000" cy="6316171"/>
          </a:xfrm>
          <a:custGeom>
            <a:avLst/>
            <a:gdLst/>
            <a:ahLst/>
            <a:cxnLst/>
            <a:rect r="r" b="b" t="t" l="l"/>
            <a:pathLst>
              <a:path h="6316171" w="12660000">
                <a:moveTo>
                  <a:pt x="0" y="0"/>
                </a:moveTo>
                <a:lnTo>
                  <a:pt x="12660000" y="0"/>
                </a:lnTo>
                <a:lnTo>
                  <a:pt x="12660000" y="6316171"/>
                </a:lnTo>
                <a:lnTo>
                  <a:pt x="0" y="631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75" r="-449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720347" y="1028700"/>
            <a:ext cx="4450761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6153" y="2966054"/>
            <a:ext cx="6309761" cy="3283272"/>
            <a:chOff x="0" y="0"/>
            <a:chExt cx="1661830" cy="864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1830" cy="864730"/>
            </a:xfrm>
            <a:custGeom>
              <a:avLst/>
              <a:gdLst/>
              <a:ahLst/>
              <a:cxnLst/>
              <a:rect r="r" b="b" t="t" l="l"/>
              <a:pathLst>
                <a:path h="864730" w="1661830">
                  <a:moveTo>
                    <a:pt x="0" y="0"/>
                  </a:moveTo>
                  <a:lnTo>
                    <a:pt x="1661830" y="0"/>
                  </a:lnTo>
                  <a:lnTo>
                    <a:pt x="1661830" y="864730"/>
                  </a:lnTo>
                  <a:lnTo>
                    <a:pt x="0" y="864730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61830" cy="91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76153" y="6411251"/>
            <a:ext cx="6309761" cy="2847049"/>
            <a:chOff x="0" y="0"/>
            <a:chExt cx="1661830" cy="749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1830" cy="749840"/>
            </a:xfrm>
            <a:custGeom>
              <a:avLst/>
              <a:gdLst/>
              <a:ahLst/>
              <a:cxnLst/>
              <a:rect r="r" b="b" t="t" l="l"/>
              <a:pathLst>
                <a:path h="749840" w="1661830">
                  <a:moveTo>
                    <a:pt x="0" y="0"/>
                  </a:moveTo>
                  <a:lnTo>
                    <a:pt x="1661830" y="0"/>
                  </a:lnTo>
                  <a:lnTo>
                    <a:pt x="1661830" y="749840"/>
                  </a:lnTo>
                  <a:lnTo>
                    <a:pt x="0" y="749840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61830" cy="79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141112" y="3195913"/>
            <a:ext cx="5613022" cy="42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3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FEASIBILITY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89516" y="6669749"/>
            <a:ext cx="4859302" cy="42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3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ECONOMIC FEASIBILITY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76153" y="3605748"/>
            <a:ext cx="6178476" cy="30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141" indent="-305071" lvl="1">
              <a:lnSpc>
                <a:spcPts val="3956"/>
              </a:lnSpc>
              <a:buFont typeface="Arial"/>
              <a:buChar char="•"/>
            </a:pPr>
            <a:r>
              <a:rPr lang="en-US" sz="282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</a:t>
            </a:r>
            <a:r>
              <a:rPr lang="en-US" sz="282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ublic MRI datasets (ADNI, OASIS)</a:t>
            </a:r>
          </a:p>
          <a:p>
            <a:pPr algn="l" marL="610141" indent="-305071" lvl="1">
              <a:lnSpc>
                <a:spcPts val="3956"/>
              </a:lnSpc>
              <a:buFont typeface="Arial"/>
              <a:buChar char="•"/>
            </a:pPr>
            <a:r>
              <a:rPr lang="en-US" sz="282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Python &amp; PyTorch for AI model development</a:t>
            </a:r>
          </a:p>
          <a:p>
            <a:pPr algn="l" marL="610141" indent="-305071" lvl="1">
              <a:lnSpc>
                <a:spcPts val="3956"/>
              </a:lnSpc>
              <a:buFont typeface="Arial"/>
              <a:buChar char="•"/>
            </a:pPr>
            <a:r>
              <a:rPr lang="en-US" sz="282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React + FastAPI for web application</a:t>
            </a:r>
          </a:p>
          <a:p>
            <a:pPr algn="l" marL="610141" indent="-305071" lvl="1">
              <a:lnSpc>
                <a:spcPts val="3956"/>
              </a:lnSpc>
              <a:buFont typeface="Arial"/>
              <a:buChar char="•"/>
            </a:pPr>
            <a:r>
              <a:rPr lang="en-US" sz="282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PostgreSQL for secure data storage</a:t>
            </a:r>
          </a:p>
          <a:p>
            <a:pPr algn="ctr">
              <a:lnSpc>
                <a:spcPts val="437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376153" y="7081864"/>
            <a:ext cx="4827372" cy="202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Op</a:t>
            </a: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en-source technologies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Google Colab for AI training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Low infrastructure cost</a:t>
            </a:r>
          </a:p>
          <a:p>
            <a:pPr algn="l">
              <a:lnSpc>
                <a:spcPts val="4381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5799506" y="849832"/>
            <a:ext cx="7772818" cy="1773322"/>
            <a:chOff x="0" y="0"/>
            <a:chExt cx="356266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62662" cy="812800"/>
            </a:xfrm>
            <a:custGeom>
              <a:avLst/>
              <a:gdLst/>
              <a:ahLst/>
              <a:cxnLst/>
              <a:rect r="r" b="b" t="t" l="l"/>
              <a:pathLst>
                <a:path h="812800" w="3562662">
                  <a:moveTo>
                    <a:pt x="356266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562662" y="624840"/>
                  </a:lnTo>
                  <a:lnTo>
                    <a:pt x="3562662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56266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47623" y="1028700"/>
            <a:ext cx="7882840" cy="1773322"/>
            <a:chOff x="0" y="0"/>
            <a:chExt cx="3613091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13091" cy="812800"/>
            </a:xfrm>
            <a:custGeom>
              <a:avLst/>
              <a:gdLst/>
              <a:ahLst/>
              <a:cxnLst/>
              <a:rect r="r" b="b" t="t" l="l"/>
              <a:pathLst>
                <a:path h="812800" w="3613091">
                  <a:moveTo>
                    <a:pt x="361309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613091" y="624840"/>
                  </a:lnTo>
                  <a:lnTo>
                    <a:pt x="3613091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613091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700177" y="1255415"/>
            <a:ext cx="7971475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 ANALYSIS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34067" y="2966054"/>
            <a:ext cx="6309761" cy="3283272"/>
            <a:chOff x="0" y="0"/>
            <a:chExt cx="1661830" cy="8647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61830" cy="864730"/>
            </a:xfrm>
            <a:custGeom>
              <a:avLst/>
              <a:gdLst/>
              <a:ahLst/>
              <a:cxnLst/>
              <a:rect r="r" b="b" t="t" l="l"/>
              <a:pathLst>
                <a:path h="864730" w="1661830">
                  <a:moveTo>
                    <a:pt x="0" y="0"/>
                  </a:moveTo>
                  <a:lnTo>
                    <a:pt x="1661830" y="0"/>
                  </a:lnTo>
                  <a:lnTo>
                    <a:pt x="1661830" y="864730"/>
                  </a:lnTo>
                  <a:lnTo>
                    <a:pt x="0" y="864730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61830" cy="91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960970" y="3195913"/>
            <a:ext cx="5613022" cy="42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3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OPERATIONAL FEASIBILITY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60970" y="3605748"/>
            <a:ext cx="6055954" cy="252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Ea</a:t>
            </a: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sy-to-use web interface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Minimal training required</a:t>
            </a:r>
          </a:p>
          <a:p>
            <a:pPr algn="l" marL="610880" indent="-305440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Can</a:t>
            </a: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integrate into existing clinical workflows</a:t>
            </a:r>
          </a:p>
          <a:p>
            <a:pPr algn="l">
              <a:lnSpc>
                <a:spcPts val="4381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9834067" y="6411251"/>
            <a:ext cx="6309761" cy="2847049"/>
            <a:chOff x="0" y="0"/>
            <a:chExt cx="1661830" cy="749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61830" cy="749840"/>
            </a:xfrm>
            <a:custGeom>
              <a:avLst/>
              <a:gdLst/>
              <a:ahLst/>
              <a:cxnLst/>
              <a:rect r="r" b="b" t="t" l="l"/>
              <a:pathLst>
                <a:path h="749840" w="1661830">
                  <a:moveTo>
                    <a:pt x="0" y="0"/>
                  </a:moveTo>
                  <a:lnTo>
                    <a:pt x="1661830" y="0"/>
                  </a:lnTo>
                  <a:lnTo>
                    <a:pt x="1661830" y="749840"/>
                  </a:lnTo>
                  <a:lnTo>
                    <a:pt x="0" y="749840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661830" cy="79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960970" y="6639851"/>
            <a:ext cx="2806511" cy="42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3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SCALABILITY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17689" y="7024714"/>
            <a:ext cx="4827372" cy="148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1"/>
              </a:lnSpc>
            </a:pPr>
            <a:r>
              <a:rPr lang="en-US" sz="28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Designed to support additional diseases and imaging modalities in future versions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437" y="569201"/>
            <a:ext cx="8367456" cy="1773322"/>
            <a:chOff x="0" y="0"/>
            <a:chExt cx="383521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35214" cy="812800"/>
            </a:xfrm>
            <a:custGeom>
              <a:avLst/>
              <a:gdLst/>
              <a:ahLst/>
              <a:cxnLst/>
              <a:rect r="r" b="b" t="t" l="l"/>
              <a:pathLst>
                <a:path h="812800" w="3835214">
                  <a:moveTo>
                    <a:pt x="3835214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835214" y="624840"/>
                  </a:lnTo>
                  <a:lnTo>
                    <a:pt x="3835214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35214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92671" y="786841"/>
            <a:ext cx="8456739" cy="1773322"/>
            <a:chOff x="0" y="0"/>
            <a:chExt cx="387613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6136" cy="812800"/>
            </a:xfrm>
            <a:custGeom>
              <a:avLst/>
              <a:gdLst/>
              <a:ahLst/>
              <a:cxnLst/>
              <a:rect r="r" b="b" t="t" l="l"/>
              <a:pathLst>
                <a:path h="812800" w="3876136">
                  <a:moveTo>
                    <a:pt x="3876136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876136" y="624840"/>
                  </a:lnTo>
                  <a:lnTo>
                    <a:pt x="3876136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7613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37603" y="2739514"/>
            <a:ext cx="13985123" cy="6622598"/>
          </a:xfrm>
          <a:custGeom>
            <a:avLst/>
            <a:gdLst/>
            <a:ahLst/>
            <a:cxnLst/>
            <a:rect r="r" b="b" t="t" l="l"/>
            <a:pathLst>
              <a:path h="6622598" w="13985123">
                <a:moveTo>
                  <a:pt x="0" y="0"/>
                </a:moveTo>
                <a:lnTo>
                  <a:pt x="13985123" y="0"/>
                </a:lnTo>
                <a:lnTo>
                  <a:pt x="13985123" y="6622598"/>
                </a:lnTo>
                <a:lnTo>
                  <a:pt x="0" y="66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221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5420848" y="924888"/>
            <a:ext cx="826486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31329" y="671364"/>
            <a:ext cx="5994124" cy="1773322"/>
            <a:chOff x="0" y="0"/>
            <a:chExt cx="27474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30126" y="924888"/>
            <a:ext cx="5994124" cy="1773322"/>
            <a:chOff x="0" y="0"/>
            <a:chExt cx="27474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831011" y="2698210"/>
            <a:ext cx="12775068" cy="6207350"/>
          </a:xfrm>
          <a:custGeom>
            <a:avLst/>
            <a:gdLst/>
            <a:ahLst/>
            <a:cxnLst/>
            <a:rect r="r" b="b" t="t" l="l"/>
            <a:pathLst>
              <a:path h="6207350" w="12775068">
                <a:moveTo>
                  <a:pt x="0" y="0"/>
                </a:moveTo>
                <a:lnTo>
                  <a:pt x="12775068" y="0"/>
                </a:lnTo>
                <a:lnTo>
                  <a:pt x="12775068" y="6207349"/>
                </a:lnTo>
                <a:lnTo>
                  <a:pt x="0" y="62073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257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6204671" y="1183718"/>
            <a:ext cx="60277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 STACK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02579" y="809411"/>
            <a:ext cx="9158589" cy="1773322"/>
            <a:chOff x="0" y="0"/>
            <a:chExt cx="419782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7829" cy="812800"/>
            </a:xfrm>
            <a:custGeom>
              <a:avLst/>
              <a:gdLst/>
              <a:ahLst/>
              <a:cxnLst/>
              <a:rect r="r" b="b" t="t" l="l"/>
              <a:pathLst>
                <a:path h="812800" w="4197829">
                  <a:moveTo>
                    <a:pt x="419782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197829" y="624840"/>
                  </a:lnTo>
                  <a:lnTo>
                    <a:pt x="419782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97829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97219" y="924888"/>
            <a:ext cx="9242650" cy="1773322"/>
            <a:chOff x="0" y="0"/>
            <a:chExt cx="4236358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36358" cy="812800"/>
            </a:xfrm>
            <a:custGeom>
              <a:avLst/>
              <a:gdLst/>
              <a:ahLst/>
              <a:cxnLst/>
              <a:rect r="r" b="b" t="t" l="l"/>
              <a:pathLst>
                <a:path h="812800" w="4236358">
                  <a:moveTo>
                    <a:pt x="4236358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236358" y="624840"/>
                  </a:lnTo>
                  <a:lnTo>
                    <a:pt x="4236358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236358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573861" y="2881360"/>
            <a:ext cx="13016025" cy="6297238"/>
          </a:xfrm>
          <a:custGeom>
            <a:avLst/>
            <a:gdLst/>
            <a:ahLst/>
            <a:cxnLst/>
            <a:rect r="r" b="b" t="t" l="l"/>
            <a:pathLst>
              <a:path h="6297238" w="13016025">
                <a:moveTo>
                  <a:pt x="0" y="0"/>
                </a:moveTo>
                <a:lnTo>
                  <a:pt x="13016025" y="0"/>
                </a:lnTo>
                <a:lnTo>
                  <a:pt x="13016025" y="6297238"/>
                </a:lnTo>
                <a:lnTo>
                  <a:pt x="0" y="6297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13" t="-18752" r="-7918" b="-14925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4775921" y="1321765"/>
            <a:ext cx="88852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DEVELOPMENT ROADMAP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889065" y="1028700"/>
            <a:ext cx="6870817" cy="1773322"/>
            <a:chOff x="0" y="0"/>
            <a:chExt cx="314923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49231" cy="812800"/>
            </a:xfrm>
            <a:custGeom>
              <a:avLst/>
              <a:gdLst/>
              <a:ahLst/>
              <a:cxnLst/>
              <a:rect r="r" b="b" t="t" l="l"/>
              <a:pathLst>
                <a:path h="812800" w="3149231">
                  <a:moveTo>
                    <a:pt x="314923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149231" y="624840"/>
                  </a:lnTo>
                  <a:lnTo>
                    <a:pt x="3149231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49231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50046" y="1183718"/>
            <a:ext cx="6956650" cy="1773322"/>
            <a:chOff x="0" y="0"/>
            <a:chExt cx="318857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88572" cy="812800"/>
            </a:xfrm>
            <a:custGeom>
              <a:avLst/>
              <a:gdLst/>
              <a:ahLst/>
              <a:cxnLst/>
              <a:rect r="r" b="b" t="t" l="l"/>
              <a:pathLst>
                <a:path h="812800" w="3188572">
                  <a:moveTo>
                    <a:pt x="318857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188572" y="624840"/>
                  </a:lnTo>
                  <a:lnTo>
                    <a:pt x="318857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18857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756466" y="3017514"/>
            <a:ext cx="12775068" cy="6024931"/>
          </a:xfrm>
          <a:custGeom>
            <a:avLst/>
            <a:gdLst/>
            <a:ahLst/>
            <a:cxnLst/>
            <a:rect r="r" b="b" t="t" l="l"/>
            <a:pathLst>
              <a:path h="6024931" w="12775068">
                <a:moveTo>
                  <a:pt x="0" y="0"/>
                </a:moveTo>
                <a:lnTo>
                  <a:pt x="12775068" y="0"/>
                </a:lnTo>
                <a:lnTo>
                  <a:pt x="12775068" y="6024930"/>
                </a:lnTo>
                <a:lnTo>
                  <a:pt x="0" y="6024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656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05323" y="1541054"/>
            <a:ext cx="6238300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IMPACT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77951" y="577940"/>
            <a:ext cx="5609274" cy="1773322"/>
            <a:chOff x="0" y="0"/>
            <a:chExt cx="257100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71004" cy="812800"/>
            </a:xfrm>
            <a:custGeom>
              <a:avLst/>
              <a:gdLst/>
              <a:ahLst/>
              <a:cxnLst/>
              <a:rect r="r" b="b" t="t" l="l"/>
              <a:pathLst>
                <a:path h="812800" w="2571004">
                  <a:moveTo>
                    <a:pt x="2571004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571004" y="624840"/>
                  </a:lnTo>
                  <a:lnTo>
                    <a:pt x="2571004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571004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14622" y="809411"/>
            <a:ext cx="5753493" cy="1773322"/>
            <a:chOff x="0" y="0"/>
            <a:chExt cx="263710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7106" cy="812800"/>
            </a:xfrm>
            <a:custGeom>
              <a:avLst/>
              <a:gdLst/>
              <a:ahLst/>
              <a:cxnLst/>
              <a:rect r="r" b="b" t="t" l="l"/>
              <a:pathLst>
                <a:path h="812800" w="2637106">
                  <a:moveTo>
                    <a:pt x="2637106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637106" y="624840"/>
                  </a:lnTo>
                  <a:lnTo>
                    <a:pt x="2637106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3710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152062" y="2582733"/>
            <a:ext cx="13983876" cy="6401070"/>
          </a:xfrm>
          <a:custGeom>
            <a:avLst/>
            <a:gdLst/>
            <a:ahLst/>
            <a:cxnLst/>
            <a:rect r="r" b="b" t="t" l="l"/>
            <a:pathLst>
              <a:path h="6401070" w="13983876">
                <a:moveTo>
                  <a:pt x="0" y="0"/>
                </a:moveTo>
                <a:lnTo>
                  <a:pt x="13983876" y="0"/>
                </a:lnTo>
                <a:lnTo>
                  <a:pt x="13983876" y="6401069"/>
                </a:lnTo>
                <a:lnTo>
                  <a:pt x="0" y="6401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98" t="-20396" r="-2118" b="-22958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40516" y="2582733"/>
            <a:ext cx="4967165" cy="908471"/>
            <a:chOff x="0" y="0"/>
            <a:chExt cx="1308224" cy="2392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8225" cy="239268"/>
            </a:xfrm>
            <a:custGeom>
              <a:avLst/>
              <a:gdLst/>
              <a:ahLst/>
              <a:cxnLst/>
              <a:rect r="r" b="b" t="t" l="l"/>
              <a:pathLst>
                <a:path h="239268" w="1308225">
                  <a:moveTo>
                    <a:pt x="0" y="0"/>
                  </a:moveTo>
                  <a:lnTo>
                    <a:pt x="1308225" y="0"/>
                  </a:lnTo>
                  <a:lnTo>
                    <a:pt x="1308225" y="239268"/>
                  </a:lnTo>
                  <a:lnTo>
                    <a:pt x="0" y="2392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08224" cy="286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14622" y="1090294"/>
            <a:ext cx="5335932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SCOPE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70545" y="809411"/>
            <a:ext cx="5609274" cy="1773322"/>
            <a:chOff x="0" y="0"/>
            <a:chExt cx="257100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1004" cy="812800"/>
            </a:xfrm>
            <a:custGeom>
              <a:avLst/>
              <a:gdLst/>
              <a:ahLst/>
              <a:cxnLst/>
              <a:rect r="r" b="b" t="t" l="l"/>
              <a:pathLst>
                <a:path h="812800" w="2571004">
                  <a:moveTo>
                    <a:pt x="2571004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571004" y="624840"/>
                  </a:lnTo>
                  <a:lnTo>
                    <a:pt x="2571004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71004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07216" y="1028700"/>
            <a:ext cx="5753493" cy="1773322"/>
            <a:chOff x="0" y="0"/>
            <a:chExt cx="263710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37106" cy="812800"/>
            </a:xfrm>
            <a:custGeom>
              <a:avLst/>
              <a:gdLst/>
              <a:ahLst/>
              <a:cxnLst/>
              <a:rect r="r" b="b" t="t" l="l"/>
              <a:pathLst>
                <a:path h="812800" w="2637106">
                  <a:moveTo>
                    <a:pt x="2637106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637106" y="624840"/>
                  </a:lnTo>
                  <a:lnTo>
                    <a:pt x="2637106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3710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7307216" y="1321765"/>
            <a:ext cx="5335932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51603" y="2904335"/>
            <a:ext cx="13647158" cy="685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</a:pPr>
            <a:r>
              <a:rPr lang="en-US" sz="350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Why </a:t>
            </a:r>
            <a:r>
              <a:rPr lang="en-US" sz="350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NeuroOne?</a:t>
            </a:r>
          </a:p>
          <a:p>
            <a:pPr algn="l">
              <a:lnSpc>
                <a:spcPts val="4046"/>
              </a:lnSpc>
            </a:pP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NeuroOne aims to bridge the gap between medical expertise and artificial intelligence by providing clinicians with a reliable decision support system for early neurodegenerative disease detection.</a:t>
            </a:r>
          </a:p>
          <a:p>
            <a:pPr algn="l">
              <a:lnSpc>
                <a:spcPts val="4046"/>
              </a:lnSpc>
            </a:pPr>
          </a:p>
          <a:p>
            <a:pPr algn="l">
              <a:lnSpc>
                <a:spcPts val="4904"/>
              </a:lnSpc>
            </a:pPr>
            <a:r>
              <a:rPr lang="en-US" sz="350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Key Highlights :</a:t>
            </a:r>
          </a:p>
          <a:p>
            <a:pPr algn="l" marL="623971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Addresses a real healthcare c</a:t>
            </a: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hallenge</a:t>
            </a:r>
          </a:p>
          <a:p>
            <a:pPr algn="l" marL="623971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AI-</a:t>
            </a: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assisted and explainable</a:t>
            </a:r>
          </a:p>
          <a:p>
            <a:pPr algn="l" marL="623971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Cos</a:t>
            </a: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t-effective using open-source tools</a:t>
            </a:r>
          </a:p>
          <a:p>
            <a:pPr algn="l" marL="623971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Sc</a:t>
            </a: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alable and future-ready</a:t>
            </a:r>
          </a:p>
          <a:p>
            <a:pPr algn="l" marL="623971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Designed to support—not replace—medical professionals</a:t>
            </a:r>
          </a:p>
          <a:p>
            <a:pPr algn="l">
              <a:lnSpc>
                <a:spcPts val="4046"/>
              </a:lnSpc>
            </a:pPr>
          </a:p>
          <a:p>
            <a:pPr algn="l">
              <a:lnSpc>
                <a:spcPts val="4475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751838" y="4153209"/>
            <a:ext cx="8784324" cy="126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12"/>
              </a:lnSpc>
              <a:spcBef>
                <a:spcPct val="0"/>
              </a:spcBef>
            </a:pPr>
            <a:r>
              <a:rPr lang="en-US" b="true" sz="8344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9181" y="5411320"/>
            <a:ext cx="5109638" cy="74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Team NeuroOne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01541" y="1019175"/>
            <a:ext cx="64849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6"/>
              </a:lnSpc>
              <a:spcBef>
                <a:spcPct val="0"/>
              </a:spcBef>
            </a:pPr>
            <a:r>
              <a:rPr lang="en-US" b="true" sz="3105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Team Id : 26_CS_3G_10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65895" y="8775634"/>
            <a:ext cx="6956211" cy="48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Pranveer Singh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DAHRQ-CjtgU</dc:identifier>
  <dcterms:modified xsi:type="dcterms:W3CDTF">2011-08-01T06:04:30Z</dcterms:modified>
  <cp:revision>1</cp:revision>
  <dc:title>Blue and White Minimalist Project Presentation</dc:title>
</cp:coreProperties>
</file>